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2CC51-4CC8-0ED7-EA0D-F3C404C5FC71}" v="818" dt="2026-04-30T04:24:31.149"/>
    <p1510:client id="{453B2D47-14D3-0DB3-0AB8-E8C890B2E23B}" v="112" dt="2026-04-29T23:05:09.722"/>
    <p1510:client id="{57727526-6ABC-151A-162A-3DBA98D98159}" v="3" dt="2026-04-30T06:02:44.340"/>
    <p1510:client id="{E9935E44-0E22-522A-E6CA-442355B9BE3E}" v="344" dt="2026-04-30T01:38:30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mailwsu-my.sharepoint.com/personal/ziming_fu_wsu_edu/Documents/Presentation%201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Minimax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Early</c:v>
                </c:pt>
                <c:pt idx="1">
                  <c:v>Mid</c:v>
                </c:pt>
                <c:pt idx="2">
                  <c:v>Late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7979</c:v>
                </c:pt>
                <c:pt idx="1">
                  <c:v>149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43-4532-BC96-174EF147E5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Alpha-Beta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Early</c:v>
                </c:pt>
                <c:pt idx="1">
                  <c:v>Mid</c:v>
                </c:pt>
                <c:pt idx="2">
                  <c:v>Late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1988</c:v>
                </c:pt>
                <c:pt idx="1">
                  <c:v>88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43-4532-BC96-174EF147E5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Heuristic Weight Hierarchy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avg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my_immediate_wins</c:v>
                </c:pt>
                <c:pt idx="1">
                  <c:v>opp_immediate_wins</c:v>
                </c:pt>
                <c:pt idx="2">
                  <c:v>opp_open_2</c:v>
                </c:pt>
                <c:pt idx="3">
                  <c:v>my_two_way_threats</c:v>
                </c:pt>
                <c:pt idx="4">
                  <c:v>opp_two_way_threats</c:v>
                </c:pt>
                <c:pt idx="5">
                  <c:v>my_center_control</c:v>
                </c:pt>
                <c:pt idx="6">
                  <c:v>opp_center_control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0.53300000000000003</c:v>
                </c:pt>
                <c:pt idx="1">
                  <c:v>0.248</c:v>
                </c:pt>
                <c:pt idx="2">
                  <c:v>0.53300000000000003</c:v>
                </c:pt>
                <c:pt idx="3">
                  <c:v>1.7310000000000001</c:v>
                </c:pt>
                <c:pt idx="4">
                  <c:v>1.821</c:v>
                </c:pt>
                <c:pt idx="5">
                  <c:v>0.97099999999999997</c:v>
                </c:pt>
                <c:pt idx="6">
                  <c:v>0.25600000000000001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A2-4380-A17B-01C920D651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 avg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my_immediate_wins</c:v>
                </c:pt>
                <c:pt idx="1">
                  <c:v>opp_immediate_wins</c:v>
                </c:pt>
                <c:pt idx="2">
                  <c:v>opp_open_2</c:v>
                </c:pt>
                <c:pt idx="3">
                  <c:v>my_two_way_threats</c:v>
                </c:pt>
                <c:pt idx="4">
                  <c:v>opp_two_way_threats</c:v>
                </c:pt>
                <c:pt idx="5">
                  <c:v>my_center_control</c:v>
                </c:pt>
                <c:pt idx="6">
                  <c:v>opp_center_control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1.4E-2</c:v>
                </c:pt>
                <c:pt idx="1">
                  <c:v>0.70299999999999996</c:v>
                </c:pt>
                <c:pt idx="2">
                  <c:v>1.4E-2</c:v>
                </c:pt>
                <c:pt idx="3">
                  <c:v>0.76900000000000002</c:v>
                </c:pt>
                <c:pt idx="4">
                  <c:v>2.532</c:v>
                </c:pt>
                <c:pt idx="5">
                  <c:v>0.15</c:v>
                </c:pt>
                <c:pt idx="6">
                  <c:v>1.165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A2-4380-A17B-01C920D651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Diff (W-L)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my_immediate_wins</c:v>
                </c:pt>
                <c:pt idx="1">
                  <c:v>opp_immediate_wins</c:v>
                </c:pt>
                <c:pt idx="2">
                  <c:v>opp_open_2</c:v>
                </c:pt>
                <c:pt idx="3">
                  <c:v>my_two_way_threats</c:v>
                </c:pt>
                <c:pt idx="4">
                  <c:v>opp_two_way_threats</c:v>
                </c:pt>
                <c:pt idx="5">
                  <c:v>my_center_control</c:v>
                </c:pt>
                <c:pt idx="6">
                  <c:v>opp_center_control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0.51800000000000002</c:v>
                </c:pt>
                <c:pt idx="1">
                  <c:v>-0.45500000000000002</c:v>
                </c:pt>
                <c:pt idx="2">
                  <c:v>0.51800000000000002</c:v>
                </c:pt>
                <c:pt idx="3">
                  <c:v>0.96199999999999997</c:v>
                </c:pt>
                <c:pt idx="4">
                  <c:v>-0.71099999999999997</c:v>
                </c:pt>
                <c:pt idx="5">
                  <c:v>0.82</c:v>
                </c:pt>
                <c:pt idx="6">
                  <c:v>-0.90900000000000003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A2-4380-A17B-01C920D651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my_immediate_wins</c:v>
                </c:pt>
                <c:pt idx="1">
                  <c:v>opp_immediate_wins</c:v>
                </c:pt>
                <c:pt idx="2">
                  <c:v>opp_open_2</c:v>
                </c:pt>
                <c:pt idx="3">
                  <c:v>my_two_way_threats</c:v>
                </c:pt>
                <c:pt idx="4">
                  <c:v>opp_two_way_threats</c:v>
                </c:pt>
                <c:pt idx="5">
                  <c:v>my_center_control</c:v>
                </c:pt>
                <c:pt idx="6">
                  <c:v>opp_center_control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</c:v>
                </c:pt>
                <c:pt idx="1">
                  <c:v>-2</c:v>
                </c:pt>
                <c:pt idx="2">
                  <c:v>1</c:v>
                </c:pt>
                <c:pt idx="3">
                  <c:v>0.5</c:v>
                </c:pt>
                <c:pt idx="4">
                  <c:v>-1</c:v>
                </c:pt>
                <c:pt idx="5">
                  <c:v>1</c:v>
                </c:pt>
                <c:pt idx="6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A3-46DA-9497-D1488BEE2F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2709296"/>
        <c:axId val="862710736"/>
      </c:barChart>
      <c:catAx>
        <c:axId val="86270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710736"/>
        <c:crosses val="autoZero"/>
        <c:auto val="1"/>
        <c:lblAlgn val="ctr"/>
        <c:lblOffset val="100"/>
        <c:noMultiLvlLbl val="0"/>
      </c:catAx>
      <c:valAx>
        <c:axId val="862710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70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3×3 d4</c:v>
                </c:pt>
                <c:pt idx="1">
                  <c:v>4×4 d3</c:v>
                </c:pt>
                <c:pt idx="2">
                  <c:v>5×5 d2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B-4AFA-B1E0-2AB6111CD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Draw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3×3 d4</c:v>
                </c:pt>
                <c:pt idx="1">
                  <c:v>4×4 d3</c:v>
                </c:pt>
                <c:pt idx="2">
                  <c:v>5×5 d2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FB-4AFA-B1E0-2AB6111CD98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7BE8A-E09A-4B35-B817-D4649DD8997A}" type="datetimeFigureOut"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A1FFD-A131-4BA6-9323-93B6CF712A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75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4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68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36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2000" cy="24384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828800"/>
            <a:ext cx="12192000" cy="24384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57600"/>
            <a:ext cx="12192000" cy="24384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486400"/>
            <a:ext cx="12192000" cy="24384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609600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609600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CADCFC"/>
                </a:solidFill>
              </a:rPr>
              <a:t>X</a:t>
            </a:r>
            <a:endParaRPr lang="en-US" sz="1733"/>
          </a:p>
        </p:txBody>
      </p:sp>
      <p:sp>
        <p:nvSpPr>
          <p:cNvPr id="13" name="Shape 11"/>
          <p:cNvSpPr/>
          <p:nvPr/>
        </p:nvSpPr>
        <p:spPr>
          <a:xfrm>
            <a:off x="9314688" y="609600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4688" y="609600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8C42"/>
                </a:solidFill>
              </a:rPr>
              <a:t>O</a:t>
            </a:r>
            <a:endParaRPr lang="en-US" sz="1733"/>
          </a:p>
        </p:txBody>
      </p:sp>
      <p:sp>
        <p:nvSpPr>
          <p:cNvPr id="15" name="Shape 13"/>
          <p:cNvSpPr/>
          <p:nvPr/>
        </p:nvSpPr>
        <p:spPr>
          <a:xfrm>
            <a:off x="9851136" y="609600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51136" y="609600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CADCFC"/>
                </a:solidFill>
              </a:rPr>
              <a:t>X</a:t>
            </a:r>
            <a:endParaRPr lang="en-US" sz="1733"/>
          </a:p>
        </p:txBody>
      </p:sp>
      <p:sp>
        <p:nvSpPr>
          <p:cNvPr id="17" name="Shape 15"/>
          <p:cNvSpPr/>
          <p:nvPr/>
        </p:nvSpPr>
        <p:spPr>
          <a:xfrm>
            <a:off x="8778240" y="1146048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1146048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8C42"/>
                </a:solidFill>
              </a:rPr>
              <a:t>O</a:t>
            </a:r>
            <a:endParaRPr lang="en-US" sz="1733"/>
          </a:p>
        </p:txBody>
      </p:sp>
      <p:sp>
        <p:nvSpPr>
          <p:cNvPr id="19" name="Shape 17"/>
          <p:cNvSpPr/>
          <p:nvPr/>
        </p:nvSpPr>
        <p:spPr>
          <a:xfrm>
            <a:off x="9314688" y="1146048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4688" y="1146048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CADCFC"/>
                </a:solidFill>
              </a:rPr>
              <a:t>X</a:t>
            </a:r>
            <a:endParaRPr lang="en-US" sz="1733"/>
          </a:p>
        </p:txBody>
      </p:sp>
      <p:sp>
        <p:nvSpPr>
          <p:cNvPr id="21" name="Shape 19"/>
          <p:cNvSpPr/>
          <p:nvPr/>
        </p:nvSpPr>
        <p:spPr>
          <a:xfrm>
            <a:off x="9851136" y="1146048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1682496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14688" y="1682496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4688" y="1682496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FF8C42"/>
                </a:solidFill>
              </a:rPr>
              <a:t>O</a:t>
            </a:r>
            <a:endParaRPr lang="en-US" sz="1733"/>
          </a:p>
        </p:txBody>
      </p:sp>
      <p:sp>
        <p:nvSpPr>
          <p:cNvPr id="25" name="Shape 23"/>
          <p:cNvSpPr/>
          <p:nvPr/>
        </p:nvSpPr>
        <p:spPr>
          <a:xfrm>
            <a:off x="9851136" y="1682496"/>
            <a:ext cx="463296" cy="463296"/>
          </a:xfrm>
          <a:prstGeom prst="roundRect">
            <a:avLst>
              <a:gd name="adj" fmla="val 10526"/>
            </a:avLst>
          </a:prstGeom>
          <a:solidFill>
            <a:srgbClr val="1A2E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51136" y="1682496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CADCFC"/>
                </a:solidFill>
              </a:rPr>
              <a:t>X</a:t>
            </a:r>
            <a:endParaRPr lang="en-US" sz="1733"/>
          </a:p>
        </p:txBody>
      </p:sp>
      <p:sp>
        <p:nvSpPr>
          <p:cNvPr id="27" name="Text 25"/>
          <p:cNvSpPr/>
          <p:nvPr/>
        </p:nvSpPr>
        <p:spPr>
          <a:xfrm>
            <a:off x="731520" y="2072640"/>
            <a:ext cx="10728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Tic-Tac-Toe AI</a:t>
            </a:r>
            <a:endParaRPr lang="en-US" sz="5333"/>
          </a:p>
        </p:txBody>
      </p:sp>
      <p:sp>
        <p:nvSpPr>
          <p:cNvPr id="28" name="Text 26"/>
          <p:cNvSpPr/>
          <p:nvPr/>
        </p:nvSpPr>
        <p:spPr>
          <a:xfrm>
            <a:off x="731520" y="3474720"/>
            <a:ext cx="107289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Minimax · Alpha-Beta Pruning · Heuristic Search</a:t>
            </a:r>
            <a:endParaRPr lang="en-US" sz="2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3A862A-7C17-5B32-DC20-108CDFB2A12D}"/>
              </a:ext>
            </a:extLst>
          </p:cNvPr>
          <p:cNvSpPr txBox="1"/>
          <p:nvPr/>
        </p:nvSpPr>
        <p:spPr>
          <a:xfrm>
            <a:off x="734908" y="5757513"/>
            <a:ext cx="107258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CPTS 440/540 Introduction to Artificial Intelligence</a:t>
            </a:r>
          </a:p>
          <a:p>
            <a:pPr algn="ctr"/>
            <a:endParaRPr lang="en-US" b="1">
              <a:solidFill>
                <a:schemeClr val="bg1"/>
              </a:solidFill>
            </a:endParaRPr>
          </a:p>
          <a:p>
            <a:pPr algn="ctr"/>
            <a:r>
              <a:rPr lang="en-US" b="1">
                <a:solidFill>
                  <a:schemeClr val="bg1"/>
                </a:solidFill>
              </a:rPr>
              <a:t>Team: Khang Bui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 · </a:t>
            </a:r>
            <a:r>
              <a:rPr lang="en-US" b="1">
                <a:solidFill>
                  <a:schemeClr val="bg1"/>
                </a:solidFill>
              </a:rPr>
              <a:t>Ziming Fu</a:t>
            </a:r>
          </a:p>
        </p:txBody>
      </p:sp>
    </p:spTree>
    <p:extLst>
      <p:ext uri="{BB962C8B-B14F-4D97-AF65-F5344CB8AC3E}">
        <p14:creationId xmlns:p14="http://schemas.microsoft.com/office/powerpoint/2010/main" val="396976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65760"/>
            <a:ext cx="1121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426720" y="1402080"/>
            <a:ext cx="6217920" cy="140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6720" y="1402080"/>
            <a:ext cx="73152" cy="1402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463040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>
                <a:solidFill>
                  <a:srgbClr val="000000"/>
                </a:solidFill>
              </a:rPr>
              <a:t>⊞</a:t>
            </a:r>
            <a:endParaRPr lang="en-US" sz="2933"/>
          </a:p>
        </p:txBody>
      </p:sp>
      <p:sp>
        <p:nvSpPr>
          <p:cNvPr id="7" name="Text 5"/>
          <p:cNvSpPr/>
          <p:nvPr/>
        </p:nvSpPr>
        <p:spPr>
          <a:xfrm>
            <a:off x="1463040" y="1499616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Board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463040" y="1987296"/>
            <a:ext cx="4998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Any </a:t>
            </a:r>
            <a:r>
              <a:rPr lang="en-US" sz="1650" err="1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n×n</a:t>
            </a:r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 size with k-in-a-row win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720" y="3048000"/>
            <a:ext cx="6217920" cy="140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720" y="3048000"/>
            <a:ext cx="73152" cy="1402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145536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1463040" y="3633216"/>
            <a:ext cx="4998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10×10 board has ~100! possible states</a:t>
            </a:r>
          </a:p>
        </p:txBody>
      </p:sp>
      <p:sp>
        <p:nvSpPr>
          <p:cNvPr id="14" name="Shape 12"/>
          <p:cNvSpPr/>
          <p:nvPr/>
        </p:nvSpPr>
        <p:spPr>
          <a:xfrm>
            <a:off x="426720" y="4693920"/>
            <a:ext cx="6217920" cy="140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720" y="4693920"/>
            <a:ext cx="73152" cy="1402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791456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463040" y="5279136"/>
            <a:ext cx="4998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that plays well AND responds in practical time at any scale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7132320" y="1402080"/>
            <a:ext cx="45110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Scale</a:t>
            </a:r>
            <a:endParaRPr lang="en-US" sz="2133"/>
          </a:p>
        </p:txBody>
      </p:sp>
      <p:sp>
        <p:nvSpPr>
          <p:cNvPr id="20" name="Shape 18"/>
          <p:cNvSpPr/>
          <p:nvPr/>
        </p:nvSpPr>
        <p:spPr>
          <a:xfrm>
            <a:off x="7132320" y="2011680"/>
            <a:ext cx="1578864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011680"/>
            <a:ext cx="268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3×3</a:t>
            </a:r>
            <a:endParaRPr lang="en-US" sz="2933"/>
          </a:p>
        </p:txBody>
      </p:sp>
      <p:sp>
        <p:nvSpPr>
          <p:cNvPr id="22" name="Text 20"/>
          <p:cNvSpPr/>
          <p:nvPr/>
        </p:nvSpPr>
        <p:spPr>
          <a:xfrm>
            <a:off x="981456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3D4F6E"/>
                </a:solidFill>
              </a:rPr>
              <a:t>9 cells</a:t>
            </a:r>
            <a:endParaRPr lang="en-US" sz="1600" b="1"/>
          </a:p>
        </p:txBody>
      </p:sp>
      <p:sp>
        <p:nvSpPr>
          <p:cNvPr id="23" name="Shape 21"/>
          <p:cNvSpPr/>
          <p:nvPr/>
        </p:nvSpPr>
        <p:spPr>
          <a:xfrm>
            <a:off x="7132320" y="3474720"/>
            <a:ext cx="2932176" cy="1097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474720"/>
            <a:ext cx="268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5×5</a:t>
            </a:r>
            <a:endParaRPr lang="en-US" sz="2933"/>
          </a:p>
        </p:txBody>
      </p:sp>
      <p:sp>
        <p:nvSpPr>
          <p:cNvPr id="25" name="Text 23"/>
          <p:cNvSpPr/>
          <p:nvPr/>
        </p:nvSpPr>
        <p:spPr>
          <a:xfrm>
            <a:off x="9814560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3D4F6E"/>
                </a:solidFill>
              </a:rPr>
              <a:t>25 cells</a:t>
            </a:r>
            <a:endParaRPr lang="en-US" sz="1600" b="1"/>
          </a:p>
        </p:txBody>
      </p:sp>
      <p:sp>
        <p:nvSpPr>
          <p:cNvPr id="26" name="Shape 24"/>
          <p:cNvSpPr/>
          <p:nvPr/>
        </p:nvSpPr>
        <p:spPr>
          <a:xfrm>
            <a:off x="7132320" y="4937760"/>
            <a:ext cx="45110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937760"/>
            <a:ext cx="268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10×10</a:t>
            </a:r>
            <a:endParaRPr lang="en-US" sz="2933"/>
          </a:p>
        </p:txBody>
      </p:sp>
      <p:sp>
        <p:nvSpPr>
          <p:cNvPr id="28" name="Text 26"/>
          <p:cNvSpPr/>
          <p:nvPr/>
        </p:nvSpPr>
        <p:spPr>
          <a:xfrm>
            <a:off x="9814560" y="4937760"/>
            <a:ext cx="18288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</a:rPr>
              <a:t>100 cells</a:t>
            </a:r>
          </a:p>
        </p:txBody>
      </p:sp>
      <p:pic>
        <p:nvPicPr>
          <p:cNvPr id="30" name="Picture 29" descr="A flag on top of a mountain&#10;&#10;AI-generated content may be incorrect.">
            <a:extLst>
              <a:ext uri="{FF2B5EF4-FFF2-40B4-BE49-F238E27FC236}">
                <a16:creationId xmlns:a16="http://schemas.microsoft.com/office/drawing/2014/main" id="{E55E14AF-89D0-635C-ADBB-DD5C5964F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29" y="4793130"/>
            <a:ext cx="536389" cy="506508"/>
          </a:xfrm>
          <a:prstGeom prst="rect">
            <a:avLst/>
          </a:prstGeom>
        </p:spPr>
      </p:pic>
      <p:pic>
        <p:nvPicPr>
          <p:cNvPr id="31" name="Picture 30" descr="A orange arrow pointing up&#10;&#10;AI-generated content may be incorrect.">
            <a:extLst>
              <a:ext uri="{FF2B5EF4-FFF2-40B4-BE49-F238E27FC236}">
                <a16:creationId xmlns:a16="http://schemas.microsoft.com/office/drawing/2014/main" id="{3138E471-D54A-0386-CBFA-E31A37EFB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" y="3142129"/>
            <a:ext cx="566272" cy="63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16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4000"/>
          </a:p>
        </p:txBody>
      </p:sp>
      <p:sp>
        <p:nvSpPr>
          <p:cNvPr id="5" name="Shape 3"/>
          <p:cNvSpPr/>
          <p:nvPr/>
        </p:nvSpPr>
        <p:spPr>
          <a:xfrm>
            <a:off x="423333" y="1896534"/>
            <a:ext cx="1253067" cy="1642533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5067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067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M1–2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74133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Game Engine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Minimax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93333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1867" y="1896534"/>
            <a:ext cx="1253067" cy="1642533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3600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3600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M3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862667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Alpha-Beta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Pruning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81867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896534"/>
            <a:ext cx="1253067" cy="1642533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2133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2133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M4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3251200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70400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8933" y="1896534"/>
            <a:ext cx="1253067" cy="1642533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667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667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M5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639733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Collection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58933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77467" y="1896534"/>
            <a:ext cx="1253067" cy="1642533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9200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>
              <a:alpha val="75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9200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M6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028267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Heuristic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47467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6000" y="1896534"/>
            <a:ext cx="1253067" cy="1642533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7733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7733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M7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7416800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Depth-Limited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Search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636000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54533" y="1896534"/>
            <a:ext cx="1253067" cy="1642533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76267" y="1981200"/>
            <a:ext cx="609600" cy="33866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6267" y="1981200"/>
            <a:ext cx="609600" cy="3386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M8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8805333" y="2404534"/>
            <a:ext cx="1151467" cy="1032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Benchmarking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&amp; Results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3333" y="3843867"/>
            <a:ext cx="2624667" cy="829733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1867" y="3843867"/>
            <a:ext cx="2506133" cy="8297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Correct play on 3×3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17333" y="3843867"/>
            <a:ext cx="2624667" cy="829733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35867" y="3843867"/>
            <a:ext cx="2506133" cy="829733"/>
          </a:xfrm>
          <a:prstGeom prst="round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Practical speed on 10×10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011333" y="3843867"/>
            <a:ext cx="2624667" cy="829733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29867" y="3843867"/>
            <a:ext cx="2506133" cy="8297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Data-grounded weights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805333" y="3843867"/>
            <a:ext cx="2624667" cy="829733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923867" y="3843867"/>
            <a:ext cx="2506133" cy="8297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100% win rate vs random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49" name="Shape M9Bg"/>
          <p:cNvSpPr/>
          <p:nvPr/>
        </p:nvSpPr>
        <p:spPr>
          <a:xfrm>
            <a:off x="10143067" y="1896534"/>
            <a:ext cx="1253067" cy="1642533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1" name="Shape M9ChipBg"/>
          <p:cNvSpPr/>
          <p:nvPr/>
        </p:nvSpPr>
        <p:spPr>
          <a:xfrm>
            <a:off x="10464800" y="1981200"/>
            <a:ext cx="609600" cy="3386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2" name="Text M9Chip"/>
          <p:cNvSpPr/>
          <p:nvPr/>
        </p:nvSpPr>
        <p:spPr>
          <a:xfrm>
            <a:off x="10464800" y="1981200"/>
            <a:ext cx="609600" cy="3386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M9</a:t>
            </a:r>
          </a:p>
        </p:txBody>
      </p:sp>
      <p:sp>
        <p:nvSpPr>
          <p:cNvPr id="53" name="Text M9Desc"/>
          <p:cNvSpPr/>
          <p:nvPr/>
        </p:nvSpPr>
        <p:spPr>
          <a:xfrm>
            <a:off x="10193867" y="2404534"/>
            <a:ext cx="1151467" cy="10329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GUI &amp;</a:t>
            </a:r>
            <a:endParaRPr lang="en-US"/>
          </a:p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Report</a:t>
            </a:r>
          </a:p>
        </p:txBody>
      </p:sp>
      <p:sp>
        <p:nvSpPr>
          <p:cNvPr id="50" name="Shape 32">
            <a:extLst>
              <a:ext uri="{FF2B5EF4-FFF2-40B4-BE49-F238E27FC236}">
                <a16:creationId xmlns:a16="http://schemas.microsoft.com/office/drawing/2014/main" id="{8D0E53FF-4DBB-7B6A-3AB7-FD59F6F88755}"/>
              </a:ext>
            </a:extLst>
          </p:cNvPr>
          <p:cNvSpPr/>
          <p:nvPr/>
        </p:nvSpPr>
        <p:spPr>
          <a:xfrm>
            <a:off x="10015838" y="2675467"/>
            <a:ext cx="101600" cy="67733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756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 flipH="1">
            <a:off x="10053183" y="4608576"/>
            <a:ext cx="638433" cy="39700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17A3DEA-A007-64C7-F649-5656E1B006A1}"/>
              </a:ext>
            </a:extLst>
          </p:cNvPr>
          <p:cNvSpPr/>
          <p:nvPr/>
        </p:nvSpPr>
        <p:spPr>
          <a:xfrm flipV="1">
            <a:off x="7261654" y="3753982"/>
            <a:ext cx="1706880" cy="392451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A1638569-792A-01B9-9188-81F27E22718E}"/>
              </a:ext>
            </a:extLst>
          </p:cNvPr>
          <p:cNvSpPr/>
          <p:nvPr/>
        </p:nvSpPr>
        <p:spPr>
          <a:xfrm flipV="1">
            <a:off x="6495260" y="4607421"/>
            <a:ext cx="771886" cy="38558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 &amp; Minimax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26720" y="121920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</a:rPr>
              <a:t>What was built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26720" y="1767840"/>
            <a:ext cx="5486400" cy="829056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1914144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914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1</a:t>
            </a:r>
            <a:endParaRPr lang="en-US" sz="1333"/>
          </a:p>
        </p:txBody>
      </p:sp>
      <p:sp>
        <p:nvSpPr>
          <p:cNvPr id="8" name="Text 6"/>
          <p:cNvSpPr/>
          <p:nvPr/>
        </p:nvSpPr>
        <p:spPr>
          <a:xfrm>
            <a:off x="976788" y="1835664"/>
            <a:ext cx="4741974" cy="5887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Board class with any </a:t>
            </a:r>
            <a:r>
              <a:rPr lang="en-US" sz="1650" err="1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n×n</a:t>
            </a:r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, any k-in-a-row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720" y="2767584"/>
            <a:ext cx="5486400" cy="829056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" y="2913888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913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2</a:t>
            </a:r>
            <a:endParaRPr lang="en-US" sz="1333"/>
          </a:p>
        </p:txBody>
      </p:sp>
      <p:sp>
        <p:nvSpPr>
          <p:cNvPr id="12" name="Text 10"/>
          <p:cNvSpPr/>
          <p:nvPr/>
        </p:nvSpPr>
        <p:spPr>
          <a:xfrm>
            <a:off x="976789" y="2835408"/>
            <a:ext cx="5112674" cy="684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Game class with turn management, win/draw detection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" y="3767328"/>
            <a:ext cx="5486400" cy="829056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913632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3</a:t>
            </a:r>
            <a:endParaRPr lang="en-US" sz="1333"/>
          </a:p>
        </p:txBody>
      </p:sp>
      <p:sp>
        <p:nvSpPr>
          <p:cNvPr id="16" name="Text 14"/>
          <p:cNvSpPr/>
          <p:nvPr/>
        </p:nvSpPr>
        <p:spPr>
          <a:xfrm>
            <a:off x="976789" y="3780235"/>
            <a:ext cx="4625271" cy="6848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 err="1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MinimaxAI</a:t>
            </a:r>
            <a:r>
              <a:rPr lang="en-US" sz="1650">
                <a:solidFill>
                  <a:srgbClr val="3D4F6E"/>
                </a:solidFill>
                <a:latin typeface="Calibri"/>
                <a:ea typeface="Calibri"/>
                <a:cs typeface="Calibri"/>
              </a:rPr>
              <a:t> with exhaustive search, optimal play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6720" y="4767072"/>
            <a:ext cx="5486400" cy="829056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" y="4913376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4913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</a:rPr>
              <a:t>4</a:t>
            </a:r>
            <a:endParaRPr lang="en-US" sz="1333"/>
          </a:p>
        </p:txBody>
      </p:sp>
      <p:sp>
        <p:nvSpPr>
          <p:cNvPr id="20" name="Text 18"/>
          <p:cNvSpPr/>
          <p:nvPr/>
        </p:nvSpPr>
        <p:spPr>
          <a:xfrm>
            <a:off x="976788" y="4807439"/>
            <a:ext cx="4625272" cy="62997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count tracking for benchmarking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6217920" y="121920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</a:rPr>
              <a:t>Minimax search tree</a:t>
            </a:r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6217920" y="1767840"/>
            <a:ext cx="5486400" cy="121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82354" y="1839455"/>
            <a:ext cx="5122288" cy="5326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 b="1">
                <a:solidFill>
                  <a:srgbClr val="7EC8E3"/>
                </a:solidFill>
                <a:latin typeface="Consolas"/>
                <a:ea typeface="Consolas" pitchFamily="34" charset="-122"/>
                <a:cs typeface="Consolas" pitchFamily="34" charset="-120"/>
              </a:rPr>
              <a:t>AI win</a:t>
            </a:r>
            <a:r>
              <a:rPr lang="en-US" sz="165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10−depth  |  </a:t>
            </a:r>
            <a:r>
              <a:rPr lang="en-US" sz="1650" b="1">
                <a:solidFill>
                  <a:srgbClr val="FF8C42"/>
                </a:solidFill>
                <a:latin typeface="Consolas"/>
                <a:ea typeface="Consolas" pitchFamily="34" charset="-122"/>
                <a:cs typeface="Consolas" pitchFamily="34" charset="-120"/>
              </a:rPr>
              <a:t>Human win</a:t>
            </a:r>
            <a:r>
              <a:rPr lang="en-US" sz="165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 depth−10</a:t>
            </a:r>
            <a:endParaRPr lang="en-US" sz="1650">
              <a:latin typeface="Consola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61760" y="2414016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>
                <a:solidFill>
                  <a:srgbClr val="CADCFC"/>
                </a:solidFill>
              </a:rPr>
              <a:t>Draw = 0  ·  Depth subtracted → prefers faster wins</a:t>
            </a:r>
            <a:endParaRPr lang="en-US" sz="1467"/>
          </a:p>
        </p:txBody>
      </p:sp>
      <p:sp>
        <p:nvSpPr>
          <p:cNvPr id="26" name="Shape 24"/>
          <p:cNvSpPr/>
          <p:nvPr/>
        </p:nvSpPr>
        <p:spPr>
          <a:xfrm>
            <a:off x="8991600" y="3755136"/>
            <a:ext cx="1706880" cy="390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84720" y="4608576"/>
            <a:ext cx="792480" cy="390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98480" y="4608576"/>
            <a:ext cx="914400" cy="39014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6320" y="329184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6320" y="329184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MAX</a:t>
            </a:r>
            <a:endParaRPr lang="en-US" sz="1467"/>
          </a:p>
        </p:txBody>
      </p:sp>
      <p:sp>
        <p:nvSpPr>
          <p:cNvPr id="33" name="Shape 31"/>
          <p:cNvSpPr/>
          <p:nvPr/>
        </p:nvSpPr>
        <p:spPr>
          <a:xfrm>
            <a:off x="6949440" y="414528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1D4ED8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414528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MIN</a:t>
            </a:r>
            <a:endParaRPr lang="en-US" sz="1467"/>
          </a:p>
        </p:txBody>
      </p:sp>
      <p:sp>
        <p:nvSpPr>
          <p:cNvPr id="35" name="Shape 33"/>
          <p:cNvSpPr/>
          <p:nvPr/>
        </p:nvSpPr>
        <p:spPr>
          <a:xfrm>
            <a:off x="10363200" y="414528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1D4ED8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63200" y="414528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MIN</a:t>
            </a:r>
            <a:endParaRPr lang="en-US" sz="1467"/>
          </a:p>
        </p:txBody>
      </p:sp>
      <p:sp>
        <p:nvSpPr>
          <p:cNvPr id="37" name="Shape 35"/>
          <p:cNvSpPr/>
          <p:nvPr/>
        </p:nvSpPr>
        <p:spPr>
          <a:xfrm>
            <a:off x="6156960" y="499872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22C55E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6960" y="499872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+1</a:t>
            </a:r>
            <a:endParaRPr lang="en-US" sz="1467"/>
          </a:p>
        </p:txBody>
      </p:sp>
      <p:sp>
        <p:nvSpPr>
          <p:cNvPr id="39" name="Shape 37"/>
          <p:cNvSpPr/>
          <p:nvPr/>
        </p:nvSpPr>
        <p:spPr>
          <a:xfrm>
            <a:off x="7741920" y="499872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41920" y="499872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-1</a:t>
            </a:r>
            <a:endParaRPr lang="en-US" sz="1467"/>
          </a:p>
        </p:txBody>
      </p:sp>
      <p:sp>
        <p:nvSpPr>
          <p:cNvPr id="41" name="Shape 39"/>
          <p:cNvSpPr/>
          <p:nvPr/>
        </p:nvSpPr>
        <p:spPr>
          <a:xfrm>
            <a:off x="9692640" y="499872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499872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0</a:t>
            </a:r>
            <a:endParaRPr lang="en-US" sz="1467"/>
          </a:p>
        </p:txBody>
      </p:sp>
      <p:sp>
        <p:nvSpPr>
          <p:cNvPr id="43" name="Shape 41"/>
          <p:cNvSpPr/>
          <p:nvPr/>
        </p:nvSpPr>
        <p:spPr>
          <a:xfrm>
            <a:off x="11277600" y="4998720"/>
            <a:ext cx="670560" cy="463296"/>
          </a:xfrm>
          <a:prstGeom prst="roundRect">
            <a:avLst>
              <a:gd name="adj" fmla="val 15789"/>
            </a:avLst>
          </a:prstGeom>
          <a:solidFill>
            <a:srgbClr val="22C55E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277600" y="4998720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+1</a:t>
            </a:r>
            <a:endParaRPr lang="en-US" sz="146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426720" y="1219200"/>
            <a:ext cx="6705600" cy="85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4246" y="1219200"/>
            <a:ext cx="6710544" cy="8465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i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Prune branches the opponent would never allow  →  same optimal move, up to 75% fewer nodes</a:t>
            </a:r>
            <a:endParaRPr lang="en-US" sz="120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2292096"/>
            <a:ext cx="6705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2292096"/>
            <a:ext cx="73152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" y="2353056"/>
            <a:ext cx="6217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α (alpha)</a:t>
            </a:r>
            <a:endParaRPr lang="en-US" sz="1733"/>
          </a:p>
        </p:txBody>
      </p:sp>
      <p:sp>
        <p:nvSpPr>
          <p:cNvPr id="9" name="Text 7"/>
          <p:cNvSpPr/>
          <p:nvPr/>
        </p:nvSpPr>
        <p:spPr>
          <a:xfrm>
            <a:off x="670560" y="2743200"/>
            <a:ext cx="6217920" cy="390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3D4F6E"/>
                </a:solidFill>
              </a:rPr>
              <a:t>Best score maximizer can guarantee so far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26720" y="3389376"/>
            <a:ext cx="6705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20" y="3389376"/>
            <a:ext cx="73152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560" y="3450336"/>
            <a:ext cx="6217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β (beta)</a:t>
            </a:r>
            <a:endParaRPr lang="en-US" sz="1733"/>
          </a:p>
        </p:txBody>
      </p:sp>
      <p:sp>
        <p:nvSpPr>
          <p:cNvPr id="13" name="Text 11"/>
          <p:cNvSpPr/>
          <p:nvPr/>
        </p:nvSpPr>
        <p:spPr>
          <a:xfrm>
            <a:off x="670560" y="3840480"/>
            <a:ext cx="6217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3D4F6E"/>
                </a:solidFill>
              </a:rPr>
              <a:t>Best score minimizer can guarantee so far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426720" y="4486656"/>
            <a:ext cx="6705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720" y="4486656"/>
            <a:ext cx="73152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60" y="4547616"/>
            <a:ext cx="6217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Prune when  β ≤ α</a:t>
            </a:r>
            <a:endParaRPr lang="en-US" sz="1733"/>
          </a:p>
        </p:txBody>
      </p:sp>
      <p:sp>
        <p:nvSpPr>
          <p:cNvPr id="17" name="Text 15"/>
          <p:cNvSpPr/>
          <p:nvPr/>
        </p:nvSpPr>
        <p:spPr>
          <a:xfrm>
            <a:off x="670560" y="4937760"/>
            <a:ext cx="6217920" cy="390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3D4F6E"/>
                </a:solidFill>
              </a:rPr>
              <a:t>Opponent already has a better path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315200" y="1219200"/>
            <a:ext cx="451104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</a:rPr>
              <a:t>Node count comparison — 3×3 board</a:t>
            </a:r>
            <a:endParaRPr lang="en-US" sz="1867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172988"/>
              </p:ext>
            </p:extLst>
          </p:nvPr>
        </p:nvGraphicFramePr>
        <p:xfrm>
          <a:off x="7315200" y="1828800"/>
          <a:ext cx="4572000" cy="2438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Alpha-Beta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Early (2 placed)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7,979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1,988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</a:rPr>
                        <a:t>75%↓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(4 placed)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88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</a:rPr>
                        <a:t>41%↓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(6 placed)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1247630825"/>
              </p:ext>
            </p:extLst>
          </p:nvPr>
        </p:nvGraphicFramePr>
        <p:xfrm>
          <a:off x="7315200" y="4302348"/>
          <a:ext cx="4572000" cy="225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8"/>
          <p:cNvSpPr/>
          <p:nvPr/>
        </p:nvSpPr>
        <p:spPr>
          <a:xfrm>
            <a:off x="7492039" y="4453540"/>
            <a:ext cx="0" cy="58521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2039" y="3258724"/>
            <a:ext cx="0" cy="58521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2039" y="2063908"/>
            <a:ext cx="0" cy="58521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Data Collection</a:t>
            </a:r>
            <a:endParaRPr lang="en-US" sz="3733"/>
          </a:p>
        </p:txBody>
      </p:sp>
      <p:sp>
        <p:nvSpPr>
          <p:cNvPr id="4" name="Text 2"/>
          <p:cNvSpPr/>
          <p:nvPr/>
        </p:nvSpPr>
        <p:spPr>
          <a:xfrm>
            <a:off x="426720" y="1219200"/>
            <a:ext cx="64617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</a:rPr>
              <a:t>Board features extracted per state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26720" y="1804416"/>
            <a:ext cx="6461760" cy="755904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720" y="1804416"/>
            <a:ext cx="73152" cy="755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0560" y="1853184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</a:rPr>
              <a:t>Threat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70560" y="2170176"/>
            <a:ext cx="6035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D4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my_immediate_wins · opp_immediate_wins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426720" y="2682240"/>
            <a:ext cx="6461760" cy="755904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720" y="2682240"/>
            <a:ext cx="73152" cy="755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560" y="2731008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</a:rPr>
              <a:t>Open Lines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70560" y="3048000"/>
            <a:ext cx="6035040" cy="341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50">
                <a:solidFill>
                  <a:srgbClr val="3D4F6E"/>
                </a:solidFill>
                <a:latin typeface="Consolas"/>
                <a:ea typeface="Consolas" pitchFamily="34" charset="-122"/>
                <a:cs typeface="Consolas" pitchFamily="34" charset="-120"/>
              </a:rPr>
              <a:t>my_open_2 · opp_open_2</a:t>
            </a:r>
            <a:endParaRPr lang="en-US" sz="1450">
              <a:latin typeface="Consola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" y="3560064"/>
            <a:ext cx="6461760" cy="755904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720" y="3560064"/>
            <a:ext cx="73152" cy="755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560" y="3608832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</a:rPr>
              <a:t>Forks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70560" y="3925824"/>
            <a:ext cx="6035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D4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my_two_way_threats · opp_two_way_threats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426720" y="4437888"/>
            <a:ext cx="6461760" cy="755904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6720" y="4437888"/>
            <a:ext cx="73152" cy="755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560" y="4486656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</a:rPr>
              <a:t>Position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70560" y="4803648"/>
            <a:ext cx="6035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D4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my_center_control · opp_center_control</a:t>
            </a:r>
            <a:endParaRPr lang="en-US" sz="1467"/>
          </a:p>
        </p:txBody>
      </p:sp>
      <p:sp>
        <p:nvSpPr>
          <p:cNvPr id="21" name="Shape 19"/>
          <p:cNvSpPr/>
          <p:nvPr/>
        </p:nvSpPr>
        <p:spPr>
          <a:xfrm>
            <a:off x="426720" y="5315712"/>
            <a:ext cx="6461760" cy="755904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6720" y="5315712"/>
            <a:ext cx="73152" cy="7559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560" y="5364480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</a:rPr>
              <a:t>Windows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670560" y="5681472"/>
            <a:ext cx="6035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3D4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winning · blocked · neutral windows</a:t>
            </a:r>
            <a:endParaRPr lang="en-US" sz="1467"/>
          </a:p>
        </p:txBody>
      </p:sp>
      <p:sp>
        <p:nvSpPr>
          <p:cNvPr id="25" name="Text 23"/>
          <p:cNvSpPr/>
          <p:nvPr/>
        </p:nvSpPr>
        <p:spPr>
          <a:xfrm>
            <a:off x="7125455" y="992659"/>
            <a:ext cx="4632960" cy="4632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</a:rPr>
              <a:t>Data pipeline</a:t>
            </a:r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7187239" y="1454308"/>
            <a:ext cx="609600" cy="609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7239" y="1454308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1</a:t>
            </a:r>
            <a:endParaRPr lang="en-US" sz="1867"/>
          </a:p>
        </p:txBody>
      </p:sp>
      <p:sp>
        <p:nvSpPr>
          <p:cNvPr id="29" name="Shape 27"/>
          <p:cNvSpPr/>
          <p:nvPr/>
        </p:nvSpPr>
        <p:spPr>
          <a:xfrm>
            <a:off x="7979719" y="1454308"/>
            <a:ext cx="3779520" cy="103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01639" y="1515268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Simulate games</a:t>
            </a:r>
            <a:endParaRPr lang="en-US" sz="1733"/>
          </a:p>
        </p:txBody>
      </p:sp>
      <p:sp>
        <p:nvSpPr>
          <p:cNvPr id="31" name="Text 29"/>
          <p:cNvSpPr/>
          <p:nvPr/>
        </p:nvSpPr>
        <p:spPr>
          <a:xfrm>
            <a:off x="8101639" y="1966372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>
                <a:solidFill>
                  <a:srgbClr val="64748B"/>
                </a:solidFill>
              </a:rPr>
              <a:t>random vs tactical</a:t>
            </a:r>
            <a:endParaRPr lang="en-US" sz="1467"/>
          </a:p>
        </p:txBody>
      </p:sp>
      <p:sp>
        <p:nvSpPr>
          <p:cNvPr id="32" name="Shape 30"/>
          <p:cNvSpPr/>
          <p:nvPr/>
        </p:nvSpPr>
        <p:spPr>
          <a:xfrm>
            <a:off x="7187239" y="2649124"/>
            <a:ext cx="609600" cy="609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239" y="264912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2</a:t>
            </a:r>
            <a:endParaRPr lang="en-US" sz="1867"/>
          </a:p>
        </p:txBody>
      </p:sp>
      <p:sp>
        <p:nvSpPr>
          <p:cNvPr id="35" name="Shape 33"/>
          <p:cNvSpPr/>
          <p:nvPr/>
        </p:nvSpPr>
        <p:spPr>
          <a:xfrm>
            <a:off x="7979719" y="2649124"/>
            <a:ext cx="3779520" cy="103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01639" y="2710084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Extract features</a:t>
            </a:r>
            <a:endParaRPr lang="en-US" sz="1733"/>
          </a:p>
        </p:txBody>
      </p:sp>
      <p:sp>
        <p:nvSpPr>
          <p:cNvPr id="37" name="Text 35"/>
          <p:cNvSpPr/>
          <p:nvPr/>
        </p:nvSpPr>
        <p:spPr>
          <a:xfrm>
            <a:off x="8101639" y="3161188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>
                <a:solidFill>
                  <a:srgbClr val="64748B"/>
                </a:solidFill>
              </a:rPr>
              <a:t>per move, per player</a:t>
            </a:r>
            <a:endParaRPr lang="en-US" sz="1467"/>
          </a:p>
        </p:txBody>
      </p:sp>
      <p:sp>
        <p:nvSpPr>
          <p:cNvPr id="38" name="Shape 36"/>
          <p:cNvSpPr/>
          <p:nvPr/>
        </p:nvSpPr>
        <p:spPr>
          <a:xfrm>
            <a:off x="7187239" y="3843940"/>
            <a:ext cx="609600" cy="609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87239" y="384394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3</a:t>
            </a:r>
            <a:endParaRPr lang="en-US" sz="1867"/>
          </a:p>
        </p:txBody>
      </p:sp>
      <p:sp>
        <p:nvSpPr>
          <p:cNvPr id="41" name="Shape 39"/>
          <p:cNvSpPr/>
          <p:nvPr/>
        </p:nvSpPr>
        <p:spPr>
          <a:xfrm>
            <a:off x="7979719" y="3843940"/>
            <a:ext cx="3779520" cy="103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01639" y="390490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Label outcome</a:t>
            </a:r>
            <a:endParaRPr lang="en-US" sz="1733"/>
          </a:p>
        </p:txBody>
      </p:sp>
      <p:sp>
        <p:nvSpPr>
          <p:cNvPr id="43" name="Text 41"/>
          <p:cNvSpPr/>
          <p:nvPr/>
        </p:nvSpPr>
        <p:spPr>
          <a:xfrm>
            <a:off x="8101639" y="4356004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>
                <a:solidFill>
                  <a:srgbClr val="64748B"/>
                </a:solidFill>
              </a:rPr>
              <a:t>+1 win / −1 loss / 0 draw</a:t>
            </a:r>
            <a:endParaRPr lang="en-US" sz="1467"/>
          </a:p>
        </p:txBody>
      </p:sp>
      <p:sp>
        <p:nvSpPr>
          <p:cNvPr id="44" name="Shape 42"/>
          <p:cNvSpPr/>
          <p:nvPr/>
        </p:nvSpPr>
        <p:spPr>
          <a:xfrm>
            <a:off x="7187239" y="5038756"/>
            <a:ext cx="609600" cy="609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239" y="5038756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FFFFFF"/>
                </a:solidFill>
              </a:rPr>
              <a:t>4</a:t>
            </a:r>
            <a:endParaRPr lang="en-US" sz="1867"/>
          </a:p>
        </p:txBody>
      </p:sp>
      <p:sp>
        <p:nvSpPr>
          <p:cNvPr id="46" name="Shape 44"/>
          <p:cNvSpPr/>
          <p:nvPr/>
        </p:nvSpPr>
        <p:spPr>
          <a:xfrm>
            <a:off x="7979719" y="5038756"/>
            <a:ext cx="3779520" cy="103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01639" y="5099716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</a:rPr>
              <a:t>Analyze correlations</a:t>
            </a:r>
            <a:endParaRPr lang="en-US" sz="1733"/>
          </a:p>
        </p:txBody>
      </p:sp>
      <p:sp>
        <p:nvSpPr>
          <p:cNvPr id="48" name="Text 46"/>
          <p:cNvSpPr/>
          <p:nvPr/>
        </p:nvSpPr>
        <p:spPr>
          <a:xfrm>
            <a:off x="8101639" y="555082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>
                <a:solidFill>
                  <a:srgbClr val="64748B"/>
                </a:solidFill>
              </a:rPr>
              <a:t>win avg vs loss avg</a:t>
            </a:r>
            <a:endParaRPr lang="en-US" sz="1467"/>
          </a:p>
        </p:txBody>
      </p:sp>
      <p:sp>
        <p:nvSpPr>
          <p:cNvPr id="49" name="Shape 47"/>
          <p:cNvSpPr/>
          <p:nvPr/>
        </p:nvSpPr>
        <p:spPr>
          <a:xfrm>
            <a:off x="426720" y="6156960"/>
            <a:ext cx="11338560" cy="5120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9600" y="6156960"/>
            <a:ext cx="110947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Dataset: 300 games · 1,683 rows · 4×4 board · k=3  →  918 win rows, 765 loss 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 Function</a:t>
            </a:r>
            <a:endParaRPr lang="en-US" sz="3867"/>
          </a:p>
        </p:txBody>
      </p:sp>
      <p:sp>
        <p:nvSpPr>
          <p:cNvPr id="7" name="Text 5"/>
          <p:cNvSpPr/>
          <p:nvPr/>
        </p:nvSpPr>
        <p:spPr>
          <a:xfrm>
            <a:off x="426720" y="1039906"/>
            <a:ext cx="11338560" cy="4632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50" b="1">
                <a:solidFill>
                  <a:srgbClr val="1E2761"/>
                </a:solidFill>
              </a:rPr>
              <a:t>Data-driven weight derivation</a:t>
            </a:r>
            <a:endParaRPr lang="en-US" sz="185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0F7D989-89D7-E9C5-93F9-2348895A2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5680543"/>
              </p:ext>
            </p:extLst>
          </p:nvPr>
        </p:nvGraphicFramePr>
        <p:xfrm>
          <a:off x="1831597" y="1502532"/>
          <a:ext cx="8766493" cy="5341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 Search &amp; Cutoff Policy</a:t>
            </a:r>
            <a:endParaRPr lang="en-US" sz="3733"/>
          </a:p>
        </p:txBody>
      </p:sp>
      <p:sp>
        <p:nvSpPr>
          <p:cNvPr id="4" name="Text 2"/>
          <p:cNvSpPr/>
          <p:nvPr/>
        </p:nvSpPr>
        <p:spPr>
          <a:xfrm>
            <a:off x="426720" y="1219200"/>
            <a:ext cx="64617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</a:rPr>
              <a:t>Cutoff decision at each search node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26720" y="1804416"/>
            <a:ext cx="6461760" cy="85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2023872"/>
            <a:ext cx="414528" cy="4145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023872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58240" y="1877568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>
                <a:solidFill>
                  <a:srgbClr val="1E2761"/>
                </a:solidFill>
              </a:rPr>
              <a:t>Winner found?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158240" y="2267712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64748B"/>
                </a:solidFill>
              </a:rPr>
              <a:t>Return ±10,000 (exact)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26720" y="2804160"/>
            <a:ext cx="6461760" cy="85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" y="3023616"/>
            <a:ext cx="414528" cy="4145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02361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158240" y="2877312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>
                <a:solidFill>
                  <a:srgbClr val="1E2761"/>
                </a:solidFill>
              </a:rPr>
              <a:t>Board full (draw)?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158240" y="3267456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64748B"/>
                </a:solidFill>
              </a:rPr>
              <a:t>Return 0 (exact)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26720" y="3803904"/>
            <a:ext cx="6461760" cy="85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" y="4023360"/>
            <a:ext cx="414528" cy="4145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023360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158240" y="3877056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>
                <a:solidFill>
                  <a:srgbClr val="1E2761"/>
                </a:solidFill>
              </a:rPr>
              <a:t>depth ≥ max_depth?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158240" y="4267200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64748B"/>
                </a:solidFill>
              </a:rPr>
              <a:t>Return heuristic score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26720" y="4803648"/>
            <a:ext cx="6461760" cy="85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" y="5023104"/>
            <a:ext cx="414528" cy="4145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5023104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158240" y="487680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>
                <a:solidFill>
                  <a:srgbClr val="1E2761"/>
                </a:solidFill>
              </a:rPr>
              <a:t>Otherwise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158240" y="5266944"/>
            <a:ext cx="55473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64748B"/>
                </a:solidFill>
              </a:rPr>
              <a:t>Recurse with α-β pruning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426720" y="5852160"/>
            <a:ext cx="6461760" cy="792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5852160"/>
            <a:ext cx="6156960" cy="792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i="1">
                <a:solidFill>
                  <a:srgbClr val="FFFFFF"/>
                </a:solidFill>
              </a:rPr>
              <a:t>Candidate-move restriction (radius=2): branching factor collapses from n² to ~20–50  →  depth=2 feasible on 100×100</a:t>
            </a:r>
            <a:endParaRPr lang="en-US" sz="1533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500" i="1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0" y="1219200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</a:rPr>
              <a:t>Scaling benchmark</a:t>
            </a:r>
            <a:endParaRPr lang="en-US" sz="200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11483"/>
              </p:ext>
            </p:extLst>
          </p:nvPr>
        </p:nvGraphicFramePr>
        <p:xfrm>
          <a:off x="7132320" y="1804416"/>
          <a:ext cx="4632960" cy="3218688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1.4 </a:t>
                      </a:r>
                      <a:r>
                        <a:rPr lang="en-US" sz="16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ms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4,236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240.2 </a:t>
                      </a:r>
                      <a:r>
                        <a:rPr lang="en-US" sz="16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ms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3,609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372 </a:t>
                      </a:r>
                      <a:r>
                        <a:rPr lang="en-US" sz="16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ms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5,081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 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10×10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8,700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 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7132320" y="5059680"/>
            <a:ext cx="463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>
                <a:solidFill>
                  <a:srgbClr val="1E2761"/>
                </a:solidFill>
              </a:rPr>
              <a:t>Recommended depth by board size</a:t>
            </a:r>
            <a:endParaRPr lang="en-US" sz="1667"/>
          </a:p>
        </p:txBody>
      </p:sp>
      <p:sp>
        <p:nvSpPr>
          <p:cNvPr id="30" name="Shape 27"/>
          <p:cNvSpPr/>
          <p:nvPr/>
        </p:nvSpPr>
        <p:spPr>
          <a:xfrm>
            <a:off x="7132320" y="5547360"/>
            <a:ext cx="1036320" cy="1036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132320" y="5547360"/>
            <a:ext cx="10363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</a:rPr>
              <a:t>n ≤ 5</a:t>
            </a:r>
            <a:endParaRPr lang="en-US" sz="1267"/>
          </a:p>
        </p:txBody>
      </p:sp>
      <p:sp>
        <p:nvSpPr>
          <p:cNvPr id="32" name="Text 29"/>
          <p:cNvSpPr/>
          <p:nvPr/>
        </p:nvSpPr>
        <p:spPr>
          <a:xfrm>
            <a:off x="7132320" y="6059424"/>
            <a:ext cx="1036320" cy="5242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FFFFFF"/>
                </a:solidFill>
              </a:rPr>
              <a:t>Depth = 4</a:t>
            </a:r>
          </a:p>
        </p:txBody>
      </p:sp>
      <p:sp>
        <p:nvSpPr>
          <p:cNvPr id="33" name="Shape 30"/>
          <p:cNvSpPr/>
          <p:nvPr/>
        </p:nvSpPr>
        <p:spPr>
          <a:xfrm>
            <a:off x="8290560" y="5547360"/>
            <a:ext cx="1036320" cy="1036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290560" y="5547360"/>
            <a:ext cx="10363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>
                <a:solidFill>
                  <a:srgbClr val="FFFFFF"/>
                </a:solidFill>
              </a:rPr>
              <a:t>n </a:t>
            </a:r>
            <a:r>
              <a:rPr lang="en-US" sz="1300" b="1">
                <a:solidFill>
                  <a:srgbClr val="FFFFFF"/>
                </a:solidFill>
              </a:rPr>
              <a:t>≤ 10</a:t>
            </a:r>
            <a:endParaRPr lang="en-US" sz="1267"/>
          </a:p>
        </p:txBody>
      </p:sp>
      <p:sp>
        <p:nvSpPr>
          <p:cNvPr id="35" name="Text 32"/>
          <p:cNvSpPr/>
          <p:nvPr/>
        </p:nvSpPr>
        <p:spPr>
          <a:xfrm>
            <a:off x="8290560" y="6059424"/>
            <a:ext cx="1036320" cy="5242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</a:rPr>
              <a:t>depth = 3</a:t>
            </a:r>
            <a:endParaRPr lang="en-US" sz="1200"/>
          </a:p>
        </p:txBody>
      </p:sp>
      <p:sp>
        <p:nvSpPr>
          <p:cNvPr id="36" name="Shape 33"/>
          <p:cNvSpPr/>
          <p:nvPr/>
        </p:nvSpPr>
        <p:spPr>
          <a:xfrm>
            <a:off x="9448800" y="5547360"/>
            <a:ext cx="1036320" cy="103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448800" y="5547360"/>
            <a:ext cx="10363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>
                <a:solidFill>
                  <a:srgbClr val="FFFFFF"/>
                </a:solidFill>
              </a:rPr>
              <a:t>n &gt; 10</a:t>
            </a:r>
            <a:endParaRPr lang="en-US" sz="1267"/>
          </a:p>
        </p:txBody>
      </p:sp>
      <p:sp>
        <p:nvSpPr>
          <p:cNvPr id="38" name="Text 35"/>
          <p:cNvSpPr/>
          <p:nvPr/>
        </p:nvSpPr>
        <p:spPr>
          <a:xfrm>
            <a:off x="9448800" y="6059424"/>
            <a:ext cx="1036320" cy="5242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FFFFFF"/>
                </a:solidFill>
              </a:rPr>
              <a:t>win/block/</a:t>
            </a:r>
          </a:p>
          <a:p>
            <a:pPr algn="ctr"/>
            <a:r>
              <a:rPr lang="en-US" sz="1200">
                <a:solidFill>
                  <a:srgbClr val="FFFFFF"/>
                </a:solidFill>
              </a:rPr>
              <a:t>forced threat</a:t>
            </a:r>
          </a:p>
        </p:txBody>
      </p:sp>
      <p:sp>
        <p:nvSpPr>
          <p:cNvPr id="39" name="Shape 36"/>
          <p:cNvSpPr/>
          <p:nvPr/>
        </p:nvSpPr>
        <p:spPr>
          <a:xfrm>
            <a:off x="10607040" y="5547360"/>
            <a:ext cx="1036320" cy="1036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10607040" y="5547360"/>
            <a:ext cx="10363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50" b="1">
                <a:solidFill>
                  <a:srgbClr val="FFFFFF"/>
                </a:solidFill>
              </a:rPr>
              <a:t>Pre-search checks</a:t>
            </a:r>
            <a:endParaRPr lang="en-US" sz="1267"/>
          </a:p>
        </p:txBody>
      </p:sp>
      <p:sp>
        <p:nvSpPr>
          <p:cNvPr id="41" name="Text 38"/>
          <p:cNvSpPr/>
          <p:nvPr/>
        </p:nvSpPr>
        <p:spPr>
          <a:xfrm>
            <a:off x="10607040" y="6059424"/>
            <a:ext cx="1036320" cy="5242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</a:rPr>
              <a:t>depth = 2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304800"/>
            <a:ext cx="112166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Benchmarking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26720" y="1194816"/>
            <a:ext cx="64617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</a:rPr>
              <a:t>Exp 2 — Heuristic depth vs move accuracy (4×4, k=3)</a:t>
            </a:r>
            <a:endParaRPr lang="en-US" sz="18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162133"/>
              </p:ext>
            </p:extLst>
          </p:nvPr>
        </p:nvGraphicFramePr>
        <p:xfrm>
          <a:off x="426720" y="1731264"/>
          <a:ext cx="5485794" cy="3267456"/>
        </p:xfrm>
        <a:graphic>
          <a:graphicData uri="http://schemas.openxmlformats.org/drawingml/2006/table">
            <a:tbl>
              <a:tblPr/>
              <a:tblGrid>
                <a:gridCol w="1828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Nodes visited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Same move as full search?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Full Alpha-Beta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47,183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Heuristic depth=1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lang="en-US"/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Heuristic depth=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144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Yes – 34x fewer nodes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Heuristic depth=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288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Heuristic depth=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1,371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121920" marR="121920" marT="60960" marB="60960">
                    <a:lnL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194816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</a:rPr>
              <a:t>Exp 3 — Win rate vs random player</a:t>
            </a:r>
            <a:endParaRPr lang="en-US" sz="180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8418748"/>
              </p:ext>
            </p:extLst>
          </p:nvPr>
        </p:nvGraphicFramePr>
        <p:xfrm>
          <a:off x="7132320" y="1937908"/>
          <a:ext cx="4632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6"/>
          <p:cNvSpPr/>
          <p:nvPr/>
        </p:nvSpPr>
        <p:spPr>
          <a:xfrm>
            <a:off x="426720" y="5425440"/>
            <a:ext cx="11338560" cy="115824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09600" y="5462016"/>
            <a:ext cx="2682240" cy="1072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Alpha-Beta: up to 75% fewer nodes</a:t>
            </a:r>
          </a:p>
        </p:txBody>
      </p:sp>
      <p:sp>
        <p:nvSpPr>
          <p:cNvPr id="12" name="Text 8"/>
          <p:cNvSpPr/>
          <p:nvPr/>
        </p:nvSpPr>
        <p:spPr>
          <a:xfrm>
            <a:off x="3438144" y="5462016"/>
            <a:ext cx="2682240" cy="1072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Depth=2 sufficient for correct move selection</a:t>
            </a:r>
          </a:p>
        </p:txBody>
      </p:sp>
      <p:sp>
        <p:nvSpPr>
          <p:cNvPr id="13" name="Text 9"/>
          <p:cNvSpPr/>
          <p:nvPr/>
        </p:nvSpPr>
        <p:spPr>
          <a:xfrm>
            <a:off x="6266688" y="5462016"/>
            <a:ext cx="2682240" cy="1072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100% win rate on 4×4 &amp; 5×5 vs random</a:t>
            </a:r>
          </a:p>
        </p:txBody>
      </p:sp>
      <p:sp>
        <p:nvSpPr>
          <p:cNvPr id="14" name="Text 10"/>
          <p:cNvSpPr/>
          <p:nvPr/>
        </p:nvSpPr>
        <p:spPr>
          <a:xfrm>
            <a:off x="9095232" y="5462016"/>
            <a:ext cx="2682240" cy="1072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10×10 responds in ~6s at depth=3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56250-9C3D-1DD5-4CEF-1BBF10D33580}"/>
              </a:ext>
            </a:extLst>
          </p:cNvPr>
          <p:cNvSpPr txBox="1"/>
          <p:nvPr/>
        </p:nvSpPr>
        <p:spPr>
          <a:xfrm>
            <a:off x="8775915" y="1659610"/>
            <a:ext cx="134318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1E2761"/>
                </a:solidFill>
                <a:latin typeface="Aptos"/>
              </a:rPr>
              <a:t>20 games each</a:t>
            </a:r>
            <a:endParaRPr lang="en-US" sz="120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4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68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36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7680"/>
            <a:ext cx="1072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4800"/>
          </a:p>
        </p:txBody>
      </p:sp>
      <p:sp>
        <p:nvSpPr>
          <p:cNvPr id="8" name="Shape 6"/>
          <p:cNvSpPr/>
          <p:nvPr/>
        </p:nvSpPr>
        <p:spPr>
          <a:xfrm>
            <a:off x="273222" y="1645920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2480" y="1767840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/>
          </a:p>
        </p:txBody>
      </p:sp>
      <p:sp>
        <p:nvSpPr>
          <p:cNvPr id="10" name="Text 8"/>
          <p:cNvSpPr/>
          <p:nvPr/>
        </p:nvSpPr>
        <p:spPr>
          <a:xfrm>
            <a:off x="1315729" y="1851730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Search on Large Boards</a:t>
            </a:r>
            <a:endParaRPr lang="en-US" sz="1867"/>
          </a:p>
        </p:txBody>
      </p:sp>
      <p:sp>
        <p:nvSpPr>
          <p:cNvPr id="11" name="Text 9"/>
          <p:cNvSpPr/>
          <p:nvPr/>
        </p:nvSpPr>
        <p:spPr>
          <a:xfrm>
            <a:off x="792480" y="2401824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Depth=2 on n&gt;10 is beatable by patient human. Depth=3 would need ~10× more compute.</a:t>
            </a:r>
          </a:p>
        </p:txBody>
      </p:sp>
      <p:sp>
        <p:nvSpPr>
          <p:cNvPr id="12" name="Shape 10"/>
          <p:cNvSpPr/>
          <p:nvPr/>
        </p:nvSpPr>
        <p:spPr>
          <a:xfrm>
            <a:off x="6200072" y="1645920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0" y="1767840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/>
          </a:p>
        </p:txBody>
      </p:sp>
      <p:sp>
        <p:nvSpPr>
          <p:cNvPr id="14" name="Text 12"/>
          <p:cNvSpPr/>
          <p:nvPr/>
        </p:nvSpPr>
        <p:spPr>
          <a:xfrm>
            <a:off x="7207877" y="1851730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Detection Disabled &gt;20×20</a:t>
            </a:r>
            <a:endParaRPr lang="en-US" sz="1867"/>
          </a:p>
        </p:txBody>
      </p:sp>
      <p:sp>
        <p:nvSpPr>
          <p:cNvPr id="15" name="Text 13"/>
          <p:cNvSpPr/>
          <p:nvPr/>
        </p:nvSpPr>
        <p:spPr>
          <a:xfrm>
            <a:off x="6705600" y="2401824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_</a:t>
            </a:r>
            <a:r>
              <a:rPr lang="en-US" sz="160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count_two_way_threats</a:t>
            </a: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 returns 0 for n&gt;20. Heuristic loses an important signal on the largest boards.</a:t>
            </a:r>
          </a:p>
        </p:txBody>
      </p:sp>
      <p:sp>
        <p:nvSpPr>
          <p:cNvPr id="16" name="Shape 14"/>
          <p:cNvSpPr/>
          <p:nvPr/>
        </p:nvSpPr>
        <p:spPr>
          <a:xfrm>
            <a:off x="273222" y="3742944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2480" y="3864864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/>
          </a:p>
        </p:txBody>
      </p:sp>
      <p:sp>
        <p:nvSpPr>
          <p:cNvPr id="18" name="Text 16"/>
          <p:cNvSpPr/>
          <p:nvPr/>
        </p:nvSpPr>
        <p:spPr>
          <a:xfrm>
            <a:off x="1315729" y="3990699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Transposition Table</a:t>
            </a:r>
            <a:endParaRPr lang="en-US" sz="1867"/>
          </a:p>
        </p:txBody>
      </p:sp>
      <p:sp>
        <p:nvSpPr>
          <p:cNvPr id="19" name="Text 17"/>
          <p:cNvSpPr/>
          <p:nvPr/>
        </p:nvSpPr>
        <p:spPr>
          <a:xfrm>
            <a:off x="792480" y="4498848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Same board positions reached via different move sequences </a:t>
            </a: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are re-evaluated.</a:t>
            </a:r>
          </a:p>
        </p:txBody>
      </p:sp>
      <p:sp>
        <p:nvSpPr>
          <p:cNvPr id="20" name="Shape 18"/>
          <p:cNvSpPr/>
          <p:nvPr/>
        </p:nvSpPr>
        <p:spPr>
          <a:xfrm>
            <a:off x="6200072" y="3742944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05600" y="3864864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933"/>
          </a:p>
        </p:txBody>
      </p:sp>
      <p:sp>
        <p:nvSpPr>
          <p:cNvPr id="22" name="Text 20"/>
          <p:cNvSpPr/>
          <p:nvPr/>
        </p:nvSpPr>
        <p:spPr>
          <a:xfrm>
            <a:off x="7207877" y="3948754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Depth &amp; Manual Weights</a:t>
            </a:r>
            <a:endParaRPr lang="en-US" sz="1867"/>
          </a:p>
        </p:txBody>
      </p:sp>
      <p:sp>
        <p:nvSpPr>
          <p:cNvPr id="23" name="Text 21"/>
          <p:cNvSpPr/>
          <p:nvPr/>
        </p:nvSpPr>
        <p:spPr>
          <a:xfrm>
            <a:off x="6705600" y="4498848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Depth is set before search; no time-adaptive deepening. Feature weights were hand-tuned, not machine-learned.</a:t>
            </a:r>
            <a:endParaRPr lang="en-US" sz="1600">
              <a:solidFill>
                <a:schemeClr val="bg1"/>
              </a:solidFill>
              <a:latin typeface="Aptos" panose="020B0004020202020204"/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4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68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3600" y="0"/>
            <a:ext cx="24384" cy="685800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7680"/>
            <a:ext cx="1072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4800"/>
          </a:p>
        </p:txBody>
      </p:sp>
      <p:sp>
        <p:nvSpPr>
          <p:cNvPr id="8" name="Shape 6"/>
          <p:cNvSpPr/>
          <p:nvPr/>
        </p:nvSpPr>
        <p:spPr>
          <a:xfrm>
            <a:off x="273222" y="1645920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2480" y="1767840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/>
          </a:p>
        </p:txBody>
      </p:sp>
      <p:sp>
        <p:nvSpPr>
          <p:cNvPr id="10" name="Text 8"/>
          <p:cNvSpPr/>
          <p:nvPr/>
        </p:nvSpPr>
        <p:spPr>
          <a:xfrm>
            <a:off x="1308738" y="1844739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867"/>
          </a:p>
        </p:txBody>
      </p:sp>
      <p:sp>
        <p:nvSpPr>
          <p:cNvPr id="11" name="Text 9"/>
          <p:cNvSpPr/>
          <p:nvPr/>
        </p:nvSpPr>
        <p:spPr>
          <a:xfrm>
            <a:off x="792480" y="2401824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Parameterized by (n, k): works from 3×3 to 100×100; no hardcoded logic.</a:t>
            </a:r>
          </a:p>
          <a:p>
            <a:endParaRPr lang="en-US" sz="1600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00072" y="1645920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0" y="1767840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/>
          </a:p>
        </p:txBody>
      </p:sp>
      <p:sp>
        <p:nvSpPr>
          <p:cNvPr id="14" name="Text 12"/>
          <p:cNvSpPr/>
          <p:nvPr/>
        </p:nvSpPr>
        <p:spPr>
          <a:xfrm>
            <a:off x="7207877" y="1844739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Heuristic</a:t>
            </a:r>
            <a:endParaRPr lang="en-US" sz="1867"/>
          </a:p>
        </p:txBody>
      </p:sp>
      <p:sp>
        <p:nvSpPr>
          <p:cNvPr id="15" name="Text 13"/>
          <p:cNvSpPr/>
          <p:nvPr/>
        </p:nvSpPr>
        <p:spPr>
          <a:xfrm>
            <a:off x="6705600" y="2401824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Feature weights grounded in 1,683 game records</a:t>
            </a:r>
          </a:p>
        </p:txBody>
      </p:sp>
      <p:sp>
        <p:nvSpPr>
          <p:cNvPr id="16" name="Shape 14"/>
          <p:cNvSpPr/>
          <p:nvPr/>
        </p:nvSpPr>
        <p:spPr>
          <a:xfrm>
            <a:off x="273222" y="3742944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2480" y="3864864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/>
          </a:p>
        </p:txBody>
      </p:sp>
      <p:sp>
        <p:nvSpPr>
          <p:cNvPr id="18" name="Text 16"/>
          <p:cNvSpPr/>
          <p:nvPr/>
        </p:nvSpPr>
        <p:spPr>
          <a:xfrm>
            <a:off x="1308738" y="3941763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</a:t>
            </a:r>
            <a:endParaRPr lang="en-US" sz="1867"/>
          </a:p>
        </p:txBody>
      </p:sp>
      <p:sp>
        <p:nvSpPr>
          <p:cNvPr id="19" name="Text 17"/>
          <p:cNvSpPr/>
          <p:nvPr/>
        </p:nvSpPr>
        <p:spPr>
          <a:xfrm>
            <a:off x="792480" y="4498848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Candidate-move restriction + O(4k) winner check keeps depth=2 under 1s on any board size.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0072" y="3742944"/>
            <a:ext cx="5547360" cy="1804416"/>
          </a:xfrm>
          <a:prstGeom prst="roundRect">
            <a:avLst/>
          </a:prstGeom>
          <a:solidFill>
            <a:srgbClr val="1A2E7A"/>
          </a:solidFill>
          <a:ln w="1016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05600" y="3864864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933"/>
          </a:p>
        </p:txBody>
      </p:sp>
      <p:sp>
        <p:nvSpPr>
          <p:cNvPr id="22" name="Text 20"/>
          <p:cNvSpPr/>
          <p:nvPr/>
        </p:nvSpPr>
        <p:spPr>
          <a:xfrm>
            <a:off x="7207877" y="3948754"/>
            <a:ext cx="436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Effectiveness</a:t>
            </a:r>
            <a:endParaRPr lang="en-US" sz="1867"/>
          </a:p>
        </p:txBody>
      </p:sp>
      <p:sp>
        <p:nvSpPr>
          <p:cNvPr id="23" name="Text 21"/>
          <p:cNvSpPr/>
          <p:nvPr/>
        </p:nvSpPr>
        <p:spPr>
          <a:xfrm>
            <a:off x="6705600" y="4498848"/>
            <a:ext cx="5181600" cy="92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100% win rate on 4×4 &amp; 5×5 vs random; never loses on 3×3 under optimal 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2026-04-29T22:28:00Z</dcterms:created>
  <dcterms:modified xsi:type="dcterms:W3CDTF">2026-04-30T17:04:54Z</dcterms:modified>
</cp:coreProperties>
</file>